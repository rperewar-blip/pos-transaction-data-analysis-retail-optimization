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Aug</c:v>
                  </c:pt>
                  <c:pt idx="7">
                    <c:v>Sep</c:v>
                  </c:pt>
                  <c:pt idx="8">
                    <c:v>Oct</c:v>
                  </c:pt>
                  <c:pt idx="9">
                    <c:v>Dec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58960.79</c:v>
                </c:pt>
                <c:pt idx="1">
                  <c:v>47748.38</c:v>
                </c:pt>
                <c:pt idx="2">
                  <c:v>46943.71</c:v>
                </c:pt>
                <c:pt idx="3">
                  <c:v>31774.95</c:v>
                </c:pt>
                <c:pt idx="4">
                  <c:v>54830.46</c:v>
                </c:pt>
                <c:pt idx="5">
                  <c:v>99618.2</c:v>
                </c:pt>
                <c:pt idx="6">
                  <c:v>45389.98</c:v>
                </c:pt>
                <c:pt idx="7">
                  <c:v>53586.18</c:v>
                </c:pt>
                <c:pt idx="8">
                  <c:v>59182.92</c:v>
                </c:pt>
                <c:pt idx="9">
                  <c:v>17329.07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8A00"/>
              </a:solidFill>
              <a:effectLst/>
            </c:spPr>
          </c:dPt>
          <c:dPt>
            <c:idx val="1"/>
            <c:bubble3D val="0"/>
            <c:spPr>
              <a:solidFill>
                <a:srgbClr val="6C63FF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Medium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10200413.734004335</c:v>
                </c:pt>
                <c:pt idx="1">
                  <c:v>1438183.4300000006</c:v>
                </c:pt>
                <c:pt idx="2">
                  <c:v>6184218.644</c:v>
                </c:pt>
              </c:numCache>
            </c:numRef>
          </c:val>
        </c:ser>
        <c:firstSliceAng val="0"/>
      </c:pieChart>
      <c:spPr>
        <a:noFill/>
        <a:ln w="12700" cap="flat">
          <a:solidFill>
            <a:srgbClr val="E5E7EB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4C81"/>
            </a:solidFill>
            <a:ln w="25400" cap="flat">
              <a:solidFill>
                <a:srgbClr val="0F4C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7</c:v>
                  </c:pt>
                  <c:pt idx="1">
                    <c:v>8</c:v>
                  </c:pt>
                  <c:pt idx="2">
                    <c:v>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  <c:pt idx="8">
                    <c:v>15</c:v>
                  </c:pt>
                  <c:pt idx="9">
                    <c:v>16</c:v>
                  </c:pt>
                  <c:pt idx="10">
                    <c:v>17</c:v>
                  </c:pt>
                  <c:pt idx="11">
                    <c:v>18</c:v>
                  </c:pt>
                  <c:pt idx="12">
                    <c:v>19</c:v>
                  </c:pt>
                  <c:pt idx="13">
                    <c:v>20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8895.759999999995</c:v>
                </c:pt>
                <c:pt idx="1">
                  <c:v>111673.85999999991</c:v>
                </c:pt>
                <c:pt idx="2">
                  <c:v>522537.90000001166</c:v>
                </c:pt>
                <c:pt idx="3">
                  <c:v>618165.6000000166</c:v>
                </c:pt>
                <c:pt idx="4">
                  <c:v>513670.82000001334</c:v>
                </c:pt>
                <c:pt idx="5">
                  <c:v>640879.1900000182</c:v>
                </c:pt>
                <c:pt idx="6">
                  <c:v>483227.60000001773</c:v>
                </c:pt>
                <c:pt idx="7">
                  <c:v>498325.44000002125</c:v>
                </c:pt>
                <c:pt idx="8">
                  <c:v>551787.0700000359</c:v>
                </c:pt>
                <c:pt idx="9">
                  <c:v>395073.97000003053</c:v>
                </c:pt>
                <c:pt idx="10">
                  <c:v>232819.440000003</c:v>
                </c:pt>
                <c:pt idx="11">
                  <c:v>71446.75999999982</c:v>
                </c:pt>
                <c:pt idx="12">
                  <c:v>22313.86000000004</c:v>
                </c:pt>
                <c:pt idx="13">
                  <c:v>2501.3800000000037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Netherlands</c:v>
                  </c:pt>
                  <c:pt idx="1">
                    <c:v>EIRE</c:v>
                  </c:pt>
                  <c:pt idx="2">
                    <c:v>Germany</c:v>
                  </c:pt>
                  <c:pt idx="3">
                    <c:v>France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285446.34</c:v>
                </c:pt>
                <c:pt idx="1">
                  <c:v>283453.9599999986</c:v>
                </c:pt>
                <c:pt idx="2">
                  <c:v>228867.13999999844</c:v>
                </c:pt>
                <c:pt idx="3">
                  <c:v>209715.10999999978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Rishabh Perewar. Today I will present my research on using POS transaction data to optimize retail business performance. I will cover the dataset, cleaning steps, analysis methods, key insights, and business action plans.
[Sources]
- Background photo (POS terminal): https://unsplash.com/photos/a-payment-terminal-sits-on-a-stores-checkout-table-5RVD3VVNWeI
- All analysis figures and values: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roadmap for the presentation. I will walk through the data, the analysis, and the decisions a retailer can take based on these findings.
[Sources]
- All content: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to use POS data to answer key questions about revenue over time, customer value, operating hours, and which markets contribute most to revenue.
[Sources]
- All content: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dataset includes invoice-level transactions with customer, product, pricing, and time fields. Revenue, hour, month, and year were derived to support the analysis.
[Sources]
- All figures and definitions: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ensures the trends and revenue calculations are accurate. Feature engineering creates time-based variables needed for monthly and hourly analysis.
[Sources]
- All steps: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analyses cover when customers buy, who drives revenue, what products contribute, where revenue comes from, and how operations can be optimized by time of day.
[Sources]
- All methods: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shows strong seasonality. July is the highest revenue month and December is the lowest. This supports different playbooks for peak, moderate, and low-demand months.
[Sources]
- Chart data and actions: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pie chart shows that high-value customers drive the majority of revenue. The strategy is to retain high-value customers and design campaigns that move medium and low value customers upward.
[Sources]
- Chart data and segmentation results: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Hourly analysis shows demand peaks between 10 AM and 3 PM, with the highest revenue at 12 PM. This directly informs workforce scheduling and operational planning.
[Sources]
- Hourly table and peak-hour conclusions: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Country analysis shows revenue concentration, with the United Kingdom contributing the largest share. The business should focus marketing and growth in the strongest markets while investigating underperforming regions.
[Sources]
- Country revenue table and recommendations: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show how POS analytics can directly support retail strategy: protect high-value customers, plan for seasonal demand, staff for peak hours, and focus growth in the strongest markets.
[Sources]
- All insights: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POS analytics enables retailers to improve customer targeting, optimize operations, and increase profitability. Thank you, and I welcome your questions.
[Sources]
- All conclusions: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listening. I’m happy to answer any questions about the dataset, analysis methods, or the business recommendations.
[Sources]
- All content: user-provided research paper (PRACTICAL RESEARCH up.docx).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1" name="Image 0" descr="/mnt/data/unsplash_pos_term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68680"/>
            <a:ext cx="5532120" cy="5806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92240" y="868680"/>
            <a:ext cx="5532120" cy="5806440"/>
          </a:xfrm>
          <a:prstGeom prst="rect">
            <a:avLst/>
          </a:prstGeom>
          <a:solidFill>
            <a:srgbClr val="000000">
              <a:alpha val="2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12344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of Sale (POS)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Data Analysis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13232" y="27889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Retail Business Optimization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85800" y="3429000"/>
            <a:ext cx="5715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3429000"/>
            <a:ext cx="109728" cy="1417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Student: Rishabh Perewar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Course: Applied Practical Research • Saint Peter’s University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4279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Mr. Shahid Zaheer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Transaction Data Analysis •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cover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5394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5120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783080"/>
            <a:ext cx="4937760" cy="2320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 objective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overview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 &amp; feature engineering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(5 analyses)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 with charts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action plans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Q&amp;A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143000"/>
            <a:ext cx="50749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143000"/>
            <a:ext cx="109728" cy="5120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325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POS analytics matters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4663440" cy="174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transactions into decisions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inventory and staffing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high-value customers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market expansion strategy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 profitability and efficiency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solving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5669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51206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783080"/>
            <a:ext cx="52120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Retailers generate large volumes of POS transactions.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analysis, customer and demand patterns stay hidden.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can cause stockouts, overstock, inefficient staffing, and missed revenue.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29400" y="1143000"/>
            <a:ext cx="48463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143000"/>
            <a:ext cx="109728" cy="5120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objective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1783080"/>
            <a:ext cx="4480560" cy="2034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POS data to identify: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trends over time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value segments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performance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Country-wise revenue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business hours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 was analyzed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500,000+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268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records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43000"/>
            <a:ext cx="10972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3,164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7316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114300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143000"/>
            <a:ext cx="109728" cy="105156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280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$17.82M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61364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 (computed)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423160"/>
            <a:ext cx="107442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423160"/>
            <a:ext cx="109728" cy="3840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606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fields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063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InvoiceNo, StockCode, Description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Quantity, UnitPrice, InvoiceDate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CustomerID, Country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Derived: Revenue = Quantity × UnitPrice, Hour, Month, Year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Ensuring accuracy before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5669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5120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steps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78308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Quantity ≤ 0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UnitPrice ≤ 0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InvoiceDate format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invalid and duplicate records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29400" y="1143000"/>
            <a:ext cx="48463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143000"/>
            <a:ext cx="109728" cy="5120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17830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= Quantity × UnitPrice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 extracted from time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and Year for trends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PivotTables and charts for reporting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analyses used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10744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51206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techniques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5120640" cy="127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Analysis (monthly revenue)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 (High/Medium/Low)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Performance (rank by revenue)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1828800"/>
            <a:ext cx="4663440" cy="127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Country-wise Revenue Analysis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Sales Analysis (peak hours)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 using PivotTables &amp; charts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Revenue Trend (2010)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Seasonality in sales performance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105156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$99,618.20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268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month: July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4300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$17,329.07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7316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month: December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114300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143000"/>
            <a:ext cx="10972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280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Seasonality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61364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monthly variation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423160"/>
            <a:ext cx="6766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423160"/>
            <a:ext cx="109728" cy="3840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6060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by month</a:t>
            </a:r>
            <a:endParaRPr lang="en-US" sz="16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960120" y="2971800"/>
          <a:ext cx="6263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7680960" y="2423160"/>
            <a:ext cx="37947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680960" y="2423160"/>
            <a:ext cx="109728" cy="384048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0956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plan (from results)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909560" y="3063240"/>
            <a:ext cx="3383280" cy="120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months: Jun, Jul, Oct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inventory 30–40% before Jun/Jul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staffing 20–30% during peak hours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months (May/Dec): targeted promotions + cost control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concentration by customer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268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customers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43000"/>
            <a:ext cx="109728" cy="105156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$10.20M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7316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revenue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114300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14300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280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0.25% → 57%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61364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→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423160"/>
            <a:ext cx="5486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423160"/>
            <a:ext cx="109728" cy="38404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share by segment</a:t>
            </a:r>
            <a:endParaRPr lang="en-US" sz="16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960120" y="2971800"/>
          <a:ext cx="5074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6492240" y="2423160"/>
            <a:ext cx="4983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92240" y="2423160"/>
            <a:ext cx="109728" cy="3840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2084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do (action plan)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720840" y="3063240"/>
            <a:ext cx="4572000" cy="127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value: dedicated CRM + exclusive rewards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value: personalized offers + bundles to upgrade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value: automated promotions to improve repeat rate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high-value customers (loss impacts revenue strongly)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31520" y="635508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Counts: High=8, Medium=29, Low=3127 (Total 3164)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Hourly Sales Pattern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business hours for operations planning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AM – 3 PM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268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sales hours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43000"/>
            <a:ext cx="109728" cy="105156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PM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7316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revenue hour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114300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143000"/>
            <a:ext cx="10972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280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$640,879.19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61364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at 12 PM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423160"/>
            <a:ext cx="7132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423160"/>
            <a:ext cx="109728" cy="384048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6060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by hour</a:t>
            </a:r>
            <a:endParaRPr lang="en-US" sz="16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960120" y="2971800"/>
          <a:ext cx="6629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8092440" y="242316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92440" y="2423160"/>
            <a:ext cx="109728" cy="3840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plan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321040" y="3063240"/>
            <a:ext cx="2971800" cy="986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AM–3 PM: maximum staff + fast checkout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system downtime during peaks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8 AM / after 6 PM: restocking, cleaning, system updates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Country-wise Revenue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revenue is concentrated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105156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$9.03M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268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United Kingdom revenue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4300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7316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UK, Netherlands, EIRE, Germany, France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114300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143000"/>
            <a:ext cx="109728" cy="105156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280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Focus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61364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where strongest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423160"/>
            <a:ext cx="7132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423160"/>
            <a:ext cx="109728" cy="3840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6060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Non-UK top countries by revenue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283464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shown in KPI (scale dominates). Chart compares next 4 countries.</a:t>
            </a:r>
            <a:endParaRPr lang="en-US" sz="10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960120" y="3063240"/>
          <a:ext cx="66294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8092440" y="242316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092440" y="2423160"/>
            <a:ext cx="109728" cy="384048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Expansion plan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21040" y="3063240"/>
            <a:ext cx="2971800" cy="986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marketing in high-performing countries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operations where potential is high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low-performing regions for improvement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results mean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10744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5120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Insights summary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" y="187452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1874520"/>
            <a:ext cx="109728" cy="2011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20116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concentration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24231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8 customers (~0.25%) generate ~57% of revenue.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87452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874520"/>
            <a:ext cx="109728" cy="201168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20116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Seasonality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3368" y="24231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 varies strongly → plan inventory &amp; staffing by demand cycles.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06908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4069080"/>
            <a:ext cx="109728" cy="2011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4206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Peak hours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61288" y="4617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demand 10 AM – 3 PM; highest at 12 PM → optimize workforce scheduling.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406908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4069080"/>
            <a:ext cx="109728" cy="20116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4206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Geographic focus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3368" y="4617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concentrated in a few markets (UK leads) → targeted marketing and expansion.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10744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143000"/>
            <a:ext cx="109728" cy="51206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874520"/>
            <a:ext cx="10241280" cy="1907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transaction data provides detailed visibility into customer behavior and demand.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 identifies high-value customers worth protecting and growing.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and hourly trends improve inventory planning, staffing, and operational efficiency.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revenue concentration supports focused marketing and expansion strategies.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Overall, data-driven actions can increase profitability and improve retail performance.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120" y="5623560"/>
            <a:ext cx="102412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5623560"/>
            <a:ext cx="109728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57150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— I’m happy to answer questions.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POS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351215" y="0"/>
            <a:ext cx="3840480" cy="3291840"/>
          </a:xfrm>
          <a:prstGeom prst="triangl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6419088"/>
            <a:ext cx="73152" cy="731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419088"/>
            <a:ext cx="73152" cy="7315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325880"/>
            <a:ext cx="10378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5740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10378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Rishabh Perewar • Saint Peter’s University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Saint Peter’s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POS Transaction Data Analysis for Retail Business Optimization</dc:subject>
  <dc:creator>Rishabh Perewar</dc:creator>
  <cp:lastModifiedBy>Rishabh Perewar</cp:lastModifiedBy>
  <cp:revision>1</cp:revision>
  <dcterms:created xsi:type="dcterms:W3CDTF">2026-02-21T21:09:15Z</dcterms:created>
  <dcterms:modified xsi:type="dcterms:W3CDTF">2026-02-21T21:09:15Z</dcterms:modified>
</cp:coreProperties>
</file>